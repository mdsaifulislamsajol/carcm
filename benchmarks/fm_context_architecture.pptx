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6858000" cy="3886199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1449" y="342900"/>
            <a:ext cx="3771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Stage 1 — Sequence Embedding (frozen foundation model)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669280"/>
            <a:ext cx="6858000" cy="283464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1449" y="5692140"/>
            <a:ext cx="37719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55555"/>
                </a:solidFill>
                <a:latin typeface="Calibri"/>
              </a:rPr>
              <a:t>Stage 2 — Context-aware Classifier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94359"/>
            <a:ext cx="2194560" cy="457200"/>
          </a:xfrm>
          <a:prstGeom prst="rect">
            <a:avLst/>
          </a:prstGeom>
          <a:solidFill>
            <a:srgbClr val="8DD3C7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Promoter sequence (1000 bp)</a:t>
            </a:r>
          </a:p>
          <a:p>
            <a:pPr algn="ctr"/>
            <a:r>
              <a:rPr sz="1000" b="1" i="0">
                <a:solidFill>
                  <a:srgbClr val="111111"/>
                </a:solidFill>
                <a:latin typeface="Calibri"/>
              </a:rPr>
              <a:t>ATCG…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599"/>
            <a:ext cx="2194560" cy="457200"/>
          </a:xfrm>
          <a:prstGeom prst="rect">
            <a:avLst/>
          </a:prstGeom>
          <a:solidFill>
            <a:srgbClr val="80B1D3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111111"/>
                </a:solidFill>
                <a:latin typeface="Calibri"/>
              </a:rPr>
              <a:t>Tokenizer (k-mer / BPE / character)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2194560" cy="640080"/>
          </a:xfrm>
          <a:prstGeom prst="rect">
            <a:avLst/>
          </a:prstGeom>
          <a:solidFill>
            <a:srgbClr val="FB8072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Foundation-model backbone (FROZEN)</a:t>
            </a:r>
          </a:p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DNABERT-2 | NT | HyenaDNA | Caduceus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59"/>
            <a:ext cx="2194560" cy="457200"/>
          </a:xfrm>
          <a:prstGeom prst="rect">
            <a:avLst/>
          </a:prstGeom>
          <a:solidFill>
            <a:srgbClr val="BEBADA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Pooling (mean / CLS / max)</a:t>
            </a:r>
          </a:p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→ e ∈ ℝ^{d_emb} (e.g. 768)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40" y="1051560"/>
            <a:ext cx="0" cy="320040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920240" y="1828799"/>
            <a:ext cx="0" cy="320040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20240" y="2788920"/>
            <a:ext cx="0" cy="320039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17520" y="2468880"/>
            <a:ext cx="411480" cy="0"/>
          </a:xfrm>
          <a:prstGeom prst="line">
            <a:avLst/>
          </a:prstGeom>
          <a:ln w="10160" dash="dash">
            <a:solidFill>
              <a:srgbClr val="88888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29000" y="2386584"/>
            <a:ext cx="960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no gradient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9059" y="594360"/>
            <a:ext cx="2331720" cy="731520"/>
          </a:xfrm>
          <a:prstGeom prst="rect">
            <a:avLst/>
          </a:prstGeom>
          <a:solidFill>
            <a:srgbClr val="FDB462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Context metadata (per row)</a:t>
            </a:r>
          </a:p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Variety ∈ 13  •  Tissue ∈ 8  •  Stage ∈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9059" y="1783080"/>
            <a:ext cx="2331720" cy="548640"/>
          </a:xfrm>
          <a:prstGeom prst="rect">
            <a:avLst/>
          </a:prstGeom>
          <a:solidFill>
            <a:srgbClr val="FCCDE5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OneHotEncoder (fit on TRAIN)</a:t>
            </a:r>
          </a:p>
          <a:p>
            <a:pPr algn="ctr"/>
            <a:r>
              <a:rPr sz="900" b="0" i="0">
                <a:solidFill>
                  <a:srgbClr val="111111"/>
                </a:solidFill>
                <a:latin typeface="Calibri"/>
              </a:rPr>
              <a:t>c ∈ {0,1}^{27}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4920" y="1325880"/>
            <a:ext cx="0" cy="457199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645919" y="4389120"/>
            <a:ext cx="3566160" cy="594360"/>
          </a:xfrm>
          <a:prstGeom prst="rect">
            <a:avLst/>
          </a:prstGeom>
          <a:solidFill>
            <a:srgbClr val="FFFFB3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Calibri"/>
              </a:rPr>
              <a:t>Concatenate   x = [ e ‖ c ]   x ∈ ℝ^{d_emb + 27}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20240" y="3566160"/>
            <a:ext cx="548639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68879" y="3566160"/>
            <a:ext cx="0" cy="822960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389120" y="2331720"/>
            <a:ext cx="685800" cy="0"/>
          </a:xfrm>
          <a:prstGeom prst="line">
            <a:avLst/>
          </a:prstGeom>
          <a:ln w="1651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89120" y="2331720"/>
            <a:ext cx="0" cy="2057400"/>
          </a:xfrm>
          <a:prstGeom prst="line">
            <a:avLst/>
          </a:prstGeom>
          <a:ln w="1651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65860" y="6172200"/>
            <a:ext cx="4526280" cy="822959"/>
          </a:xfrm>
          <a:prstGeom prst="rect">
            <a:avLst/>
          </a:prstGeom>
          <a:solidFill>
            <a:srgbClr val="B3DE69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Downstream classifier</a:t>
            </a:r>
          </a:p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Random Forest • XGBoost • LightGBM • ElasticNet • Naive Bayes</a:t>
            </a:r>
          </a:p>
          <a:p>
            <a:pPr algn="ctr"/>
            <a:r>
              <a:rPr sz="900" b="1" i="0">
                <a:solidFill>
                  <a:srgbClr val="111111"/>
                </a:solidFill>
                <a:latin typeface="Calibri"/>
              </a:rPr>
              <a:t>( GridSearchCV on ROC-AUC, 5-fold 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429000" y="4983479"/>
            <a:ext cx="0" cy="1188721"/>
          </a:xfrm>
          <a:prstGeom prst="line">
            <a:avLst/>
          </a:prstGeom>
          <a:ln w="1905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83080" y="7525512"/>
            <a:ext cx="3291839" cy="566928"/>
          </a:xfrm>
          <a:prstGeom prst="rect">
            <a:avLst/>
          </a:prstGeom>
          <a:solidFill>
            <a:srgbClr val="CCEBC5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11111"/>
                </a:solidFill>
                <a:latin typeface="Calibri"/>
              </a:rPr>
              <a:t>ŷ ∈ { Up-regulated, Down-regulated }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29000" y="6995160"/>
            <a:ext cx="0" cy="530352"/>
          </a:xfrm>
          <a:prstGeom prst="line">
            <a:avLst/>
          </a:prstGeom>
          <a:ln w="19050">
            <a:solidFill>
              <a:srgbClr val="2222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2899" y="0"/>
            <a:ext cx="617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11"/>
                </a:solidFill>
                <a:latin typeface="Calibri"/>
              </a:rPr>
              <a:t>Context-aware foundation-model benchmarking pipeline</a:t>
            </a:r>
          </a:p>
          <a:p>
            <a:pPr algn="ctr"/>
            <a:r>
              <a:rPr sz="1300" b="1" i="0">
                <a:solidFill>
                  <a:srgbClr val="111111"/>
                </a:solidFill>
                <a:latin typeface="Calibri"/>
              </a:rPr>
              <a:t>(adapted from Feng et al., Nat. Commun. 2025)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19" y="852678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Stage 1 is model-specific and frozen — run once per FM to cache embeddings.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Context is injected only at Stage 2 by concatenating one-hot(Variety, Tissue, Stage) to the pooled embedding,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Calibri"/>
              </a:rPr>
              <a:t>keeping every foundation model in the benchmark directly comparable.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